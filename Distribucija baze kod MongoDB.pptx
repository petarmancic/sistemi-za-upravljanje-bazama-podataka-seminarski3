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17-01-26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2E9-54E7-3345-04C1-3E17D6414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Distribucija</a:t>
            </a:r>
            <a:r>
              <a:rPr lang="en-US" dirty="0"/>
              <a:t> baze kod 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C8E8E-AFF3-E8E8-1037-67A5CDB26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sr-Latn-RS" dirty="0"/>
            </a:br>
            <a:r>
              <a:rPr lang="en-US" dirty="0" err="1"/>
              <a:t>Sistemi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bazama</a:t>
            </a:r>
            <a:r>
              <a:rPr lang="en-US" dirty="0"/>
              <a:t> podataka</a:t>
            </a:r>
            <a:endParaRPr lang="sr-Latn-RS" dirty="0"/>
          </a:p>
          <a:p>
            <a:r>
              <a:rPr lang="sr-Latn-RS" dirty="0"/>
              <a:t>					</a:t>
            </a:r>
          </a:p>
          <a:p>
            <a:r>
              <a:rPr lang="sr-Latn-RS" dirty="0"/>
              <a:t>										</a:t>
            </a:r>
            <a:r>
              <a:rPr lang="en-US" dirty="0"/>
              <a:t>Petar Man</a:t>
            </a:r>
            <a:r>
              <a:rPr lang="sr-Latn-RS" dirty="0"/>
              <a:t>čić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3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354103-B10D-2655-8B10-AE0D2AA5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36713"/>
            <a:ext cx="9601196" cy="1303867"/>
          </a:xfrm>
        </p:spPr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56657-A778-8010-DE18-CFB3B7E9657A}"/>
              </a:ext>
            </a:extLst>
          </p:cNvPr>
          <p:cNvSpPr txBox="1"/>
          <p:nvPr/>
        </p:nvSpPr>
        <p:spPr>
          <a:xfrm>
            <a:off x="1295402" y="2674189"/>
            <a:ext cx="985855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000" b="1" dirty="0"/>
              <a:t>Uvod i  cilj projekta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Izazovi</a:t>
            </a:r>
            <a:r>
              <a:rPr lang="en-US" sz="1600" dirty="0"/>
              <a:t> </a:t>
            </a:r>
            <a:r>
              <a:rPr lang="en-US" sz="1600" dirty="0" err="1"/>
              <a:t>skaliranja</a:t>
            </a:r>
            <a:r>
              <a:rPr lang="en-US" sz="1600" dirty="0"/>
              <a:t> </a:t>
            </a:r>
            <a:r>
              <a:rPr lang="en-US" sz="1600" dirty="0" err="1"/>
              <a:t>modernih</a:t>
            </a:r>
            <a:r>
              <a:rPr lang="en-US" sz="1600" dirty="0"/>
              <a:t> </a:t>
            </a:r>
            <a:r>
              <a:rPr lang="en-US" sz="1600" dirty="0" err="1"/>
              <a:t>aplikacija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uloga</a:t>
            </a:r>
            <a:r>
              <a:rPr lang="en-US" sz="1600" dirty="0"/>
              <a:t> MongoDB-a.</a:t>
            </a: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Osnove</a:t>
            </a:r>
            <a:r>
              <a:rPr lang="en-US" sz="2000" b="1" dirty="0"/>
              <a:t> </a:t>
            </a:r>
            <a:r>
              <a:rPr lang="en-US" sz="2000" b="1" dirty="0" err="1"/>
              <a:t>distribucije</a:t>
            </a:r>
            <a:r>
              <a:rPr lang="en-US" sz="2000" b="1" dirty="0"/>
              <a:t> podataka</a:t>
            </a:r>
            <a:endParaRPr lang="sr-Latn-R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Koncept</a:t>
            </a:r>
            <a:r>
              <a:rPr lang="en-US" sz="1600" dirty="0"/>
              <a:t> </a:t>
            </a:r>
            <a:r>
              <a:rPr lang="en-US" sz="1600" dirty="0" err="1"/>
              <a:t>distribuiranih</a:t>
            </a:r>
            <a:r>
              <a:rPr lang="en-US" sz="1600" dirty="0"/>
              <a:t> baza </a:t>
            </a:r>
            <a:r>
              <a:rPr lang="en-US" sz="1600" dirty="0" err="1"/>
              <a:t>i</a:t>
            </a:r>
            <a:r>
              <a:rPr lang="en-US" sz="1600" dirty="0"/>
              <a:t> kako MongoDB </a:t>
            </a:r>
            <a:r>
              <a:rPr lang="en-US" sz="1600" dirty="0" err="1"/>
              <a:t>pristupa</a:t>
            </a:r>
            <a:r>
              <a:rPr lang="en-US" sz="1600" dirty="0"/>
              <a:t> </a:t>
            </a:r>
            <a:r>
              <a:rPr lang="en-US" sz="1600" dirty="0" err="1"/>
              <a:t>problemu</a:t>
            </a:r>
            <a:r>
              <a:rPr lang="en-US" sz="1600" dirty="0"/>
              <a:t>.</a:t>
            </a: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Replikacija</a:t>
            </a:r>
            <a:r>
              <a:rPr lang="en-US" sz="2000" b="1" dirty="0"/>
              <a:t> (Replica Set)</a:t>
            </a:r>
            <a:endParaRPr lang="sr-Latn-R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Mehanizam</a:t>
            </a:r>
            <a:r>
              <a:rPr lang="en-US" sz="1600" dirty="0"/>
              <a:t> </a:t>
            </a:r>
            <a:r>
              <a:rPr lang="en-US" sz="1600" dirty="0" err="1"/>
              <a:t>visoke</a:t>
            </a:r>
            <a:r>
              <a:rPr lang="en-US" sz="1600" dirty="0"/>
              <a:t> </a:t>
            </a:r>
            <a:r>
              <a:rPr lang="en-US" sz="1600" dirty="0" err="1"/>
              <a:t>dostupnosti</a:t>
            </a:r>
            <a:r>
              <a:rPr lang="en-US" sz="1600" dirty="0"/>
              <a:t>, </a:t>
            </a:r>
            <a:r>
              <a:rPr lang="en-US" sz="1600" dirty="0" err="1"/>
              <a:t>uloge</a:t>
            </a:r>
            <a:r>
              <a:rPr lang="en-US" sz="1600" dirty="0"/>
              <a:t> </a:t>
            </a:r>
            <a:r>
              <a:rPr lang="en-US" sz="1600" dirty="0" err="1"/>
              <a:t>čvorova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i="1" dirty="0"/>
              <a:t>Election</a:t>
            </a:r>
            <a:r>
              <a:rPr lang="en-US" sz="1600" dirty="0"/>
              <a:t> </a:t>
            </a:r>
            <a:r>
              <a:rPr lang="en-US" sz="1600" dirty="0" err="1"/>
              <a:t>proces</a:t>
            </a:r>
            <a:r>
              <a:rPr lang="en-US" sz="1600" dirty="0"/>
              <a:t>.</a:t>
            </a: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000" b="1" dirty="0"/>
              <a:t>Sharding (</a:t>
            </a:r>
            <a:r>
              <a:rPr lang="en-US" sz="2000" b="1" dirty="0" err="1"/>
              <a:t>Horizontalno</a:t>
            </a:r>
            <a:r>
              <a:rPr lang="en-US" sz="2000" b="1" dirty="0"/>
              <a:t> </a:t>
            </a:r>
            <a:r>
              <a:rPr lang="en-US" sz="2000" b="1" dirty="0" err="1"/>
              <a:t>skaliranje</a:t>
            </a:r>
            <a:r>
              <a:rPr lang="en-US" sz="2000" b="1" dirty="0"/>
              <a:t>)</a:t>
            </a:r>
            <a:endParaRPr lang="sr-Latn-R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Arhitektura klastera, </a:t>
            </a:r>
            <a:r>
              <a:rPr lang="pl-PL" sz="1600" i="1" dirty="0"/>
              <a:t>Shard Key</a:t>
            </a:r>
            <a:r>
              <a:rPr lang="pl-PL" sz="1600" dirty="0"/>
              <a:t> i raspodela podataka kroz </a:t>
            </a:r>
            <a:r>
              <a:rPr lang="pl-PL" sz="1600" i="1" dirty="0"/>
              <a:t>Chunkove</a:t>
            </a:r>
            <a:r>
              <a:rPr lang="pl-PL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Prakti</a:t>
            </a:r>
            <a:r>
              <a:rPr lang="sr-Latn-RS" sz="2000" b="1" dirty="0"/>
              <a:t>čni primeri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Konfiguracija</a:t>
            </a:r>
            <a:r>
              <a:rPr lang="en-US" sz="1600" dirty="0"/>
              <a:t> </a:t>
            </a:r>
            <a:r>
              <a:rPr lang="en-US" sz="1600" dirty="0" err="1"/>
              <a:t>sistema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testiranje </a:t>
            </a:r>
            <a:r>
              <a:rPr lang="en-US" sz="1600" dirty="0" err="1"/>
              <a:t>otpornosti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greške</a:t>
            </a:r>
            <a:r>
              <a:rPr lang="en-US" sz="1600" dirty="0"/>
              <a:t> (</a:t>
            </a:r>
            <a:r>
              <a:rPr lang="en-US" sz="1600" i="1" dirty="0"/>
              <a:t>Fault</a:t>
            </a:r>
            <a:r>
              <a:rPr lang="sr-Latn-RS" sz="1600" i="1" dirty="0"/>
              <a:t> tolerance)</a:t>
            </a: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Zaključak</a:t>
            </a:r>
            <a:endParaRPr lang="sr-Latn-R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Sumiranje</a:t>
            </a:r>
            <a:r>
              <a:rPr lang="en-US" sz="1600" dirty="0"/>
              <a:t> </a:t>
            </a:r>
            <a:r>
              <a:rPr lang="en-US" sz="1600" dirty="0" err="1"/>
              <a:t>prednosti</a:t>
            </a:r>
            <a:r>
              <a:rPr lang="en-US" sz="1600" dirty="0"/>
              <a:t> </a:t>
            </a:r>
            <a:r>
              <a:rPr lang="en-US" sz="1600" dirty="0" err="1"/>
              <a:t>prikazane</a:t>
            </a:r>
            <a:r>
              <a:rPr lang="en-US" sz="1600" dirty="0"/>
              <a:t> </a:t>
            </a:r>
            <a:r>
              <a:rPr lang="en-US" sz="1600" dirty="0" err="1"/>
              <a:t>arhitekture</a:t>
            </a:r>
            <a:endParaRPr lang="sr-Latn-RS" sz="1600" dirty="0"/>
          </a:p>
        </p:txBody>
      </p:sp>
    </p:spTree>
    <p:extLst>
      <p:ext uri="{BB962C8B-B14F-4D97-AF65-F5344CB8AC3E}">
        <p14:creationId xmlns:p14="http://schemas.microsoft.com/office/powerpoint/2010/main" val="194485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D758-18E9-0887-C44E-29A1C844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Uvod i cilj projekta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CBD12-7F7B-FE4C-FF30-D52E97124720}"/>
              </a:ext>
            </a:extLst>
          </p:cNvPr>
          <p:cNvSpPr txBox="1"/>
          <p:nvPr/>
        </p:nvSpPr>
        <p:spPr>
          <a:xfrm>
            <a:off x="866274" y="2470484"/>
            <a:ext cx="10643937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Izazovi modernih aplikacija:</a:t>
            </a:r>
            <a:r>
              <a:rPr lang="pl-PL" dirty="0"/>
              <a:t> Ogromne količine podataka (Big Data) i potreba za radom 24/7 bez prekida.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Limit </a:t>
            </a:r>
            <a:r>
              <a:rPr lang="en-US" b="1" dirty="0" err="1"/>
              <a:t>vertikalnog</a:t>
            </a:r>
            <a:r>
              <a:rPr lang="en-US" b="1" dirty="0"/>
              <a:t> </a:t>
            </a:r>
            <a:r>
              <a:rPr lang="en-US" b="1" dirty="0" err="1"/>
              <a:t>skaliranja</a:t>
            </a:r>
            <a:r>
              <a:rPr lang="en-US" b="1" dirty="0"/>
              <a:t>:</a:t>
            </a:r>
            <a:r>
              <a:rPr lang="en-US" dirty="0"/>
              <a:t> Jedan server, ma koliko jak bio,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fizičke</a:t>
            </a:r>
            <a:r>
              <a:rPr lang="en-US" dirty="0"/>
              <a:t> </a:t>
            </a:r>
            <a:r>
              <a:rPr lang="en-US" dirty="0" err="1"/>
              <a:t>granice</a:t>
            </a:r>
            <a:r>
              <a:rPr lang="en-US" dirty="0"/>
              <a:t> (CPU, RAM, Disk).</a:t>
            </a:r>
            <a:endParaRPr lang="pl-PL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Rešenje</a:t>
            </a:r>
            <a:r>
              <a:rPr lang="en-US" b="1" dirty="0"/>
              <a:t>: </a:t>
            </a:r>
            <a:r>
              <a:rPr lang="en-US" b="1" dirty="0" err="1"/>
              <a:t>Horizontalno</a:t>
            </a:r>
            <a:r>
              <a:rPr lang="en-US" b="1" dirty="0"/>
              <a:t> </a:t>
            </a:r>
            <a:r>
              <a:rPr lang="en-US" b="1" dirty="0" err="1"/>
              <a:t>skaliranje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Povezivanje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jeftinijih</a:t>
            </a:r>
            <a:r>
              <a:rPr lang="en-US" dirty="0"/>
              <a:t> </a:t>
            </a:r>
            <a:r>
              <a:rPr lang="en-US" dirty="0" err="1"/>
              <a:t>mašina</a:t>
            </a:r>
            <a:r>
              <a:rPr lang="en-US" dirty="0"/>
              <a:t> u </a:t>
            </a:r>
            <a:r>
              <a:rPr lang="en-US" dirty="0" err="1"/>
              <a:t>jedinstven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  <a:endParaRPr lang="sr-Latn-R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Cilj</a:t>
            </a:r>
            <a:r>
              <a:rPr lang="en-US" b="1" dirty="0"/>
              <a:t> </a:t>
            </a:r>
            <a:r>
              <a:rPr lang="en-US" b="1" dirty="0" err="1"/>
              <a:t>rada</a:t>
            </a:r>
            <a:r>
              <a:rPr lang="en-US" b="1" dirty="0"/>
              <a:t>:</a:t>
            </a:r>
            <a:r>
              <a:rPr lang="en-US" dirty="0"/>
              <a:t> Analiza MongoDB </a:t>
            </a:r>
            <a:r>
              <a:rPr lang="en-US" dirty="0" err="1"/>
              <a:t>mehanizama</a:t>
            </a:r>
            <a:r>
              <a:rPr lang="en-US" dirty="0"/>
              <a:t> koji </a:t>
            </a:r>
            <a:r>
              <a:rPr lang="en-US" dirty="0" err="1"/>
              <a:t>omogućavaju</a:t>
            </a:r>
            <a:r>
              <a:rPr lang="en-US" dirty="0"/>
              <a:t>:</a:t>
            </a:r>
            <a:endParaRPr lang="sr-Latn-RS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Visoku</a:t>
            </a:r>
            <a:r>
              <a:rPr lang="en-US" b="1" dirty="0"/>
              <a:t> </a:t>
            </a:r>
            <a:r>
              <a:rPr lang="en-US" b="1" dirty="0" err="1"/>
              <a:t>dostupnost</a:t>
            </a:r>
            <a:r>
              <a:rPr lang="en-US" dirty="0"/>
              <a:t> (da </a:t>
            </a:r>
            <a:r>
              <a:rPr lang="en-US" dirty="0" err="1"/>
              <a:t>sistem</a:t>
            </a:r>
            <a:r>
              <a:rPr lang="en-US" dirty="0"/>
              <a:t> ne pada ako jedan server </a:t>
            </a:r>
            <a:r>
              <a:rPr lang="en-US" dirty="0" err="1"/>
              <a:t>otkaže</a:t>
            </a:r>
            <a:r>
              <a:rPr lang="en-US" dirty="0"/>
              <a:t>).</a:t>
            </a:r>
            <a:endParaRPr lang="sr-Latn-RS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Skalabilnost</a:t>
            </a:r>
            <a:r>
              <a:rPr lang="en-US" dirty="0"/>
              <a:t> (da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raste</a:t>
            </a:r>
            <a:r>
              <a:rPr lang="en-US" dirty="0"/>
              <a:t> zajedno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brojem</a:t>
            </a:r>
            <a:r>
              <a:rPr lang="en-US" dirty="0"/>
              <a:t> korisnika).</a:t>
            </a:r>
          </a:p>
        </p:txBody>
      </p:sp>
    </p:spTree>
    <p:extLst>
      <p:ext uri="{BB962C8B-B14F-4D97-AF65-F5344CB8AC3E}">
        <p14:creationId xmlns:p14="http://schemas.microsoft.com/office/powerpoint/2010/main" val="270315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DA8F-F766-6D41-EC81-F8DFE547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Horizontalno</a:t>
            </a:r>
            <a:r>
              <a:rPr lang="en-US" dirty="0"/>
              <a:t> I </a:t>
            </a:r>
            <a:r>
              <a:rPr lang="en-US" dirty="0" err="1"/>
              <a:t>vertikalno</a:t>
            </a:r>
            <a:r>
              <a:rPr lang="en-US" dirty="0"/>
              <a:t> </a:t>
            </a:r>
            <a:r>
              <a:rPr lang="en-US" dirty="0" err="1"/>
              <a:t>skaliranje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0C5D7-8322-6691-7576-4F36E1D2D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880" y="2382251"/>
            <a:ext cx="6124552" cy="367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7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8299-72B2-3F10-29C6-EEA72042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Osnove</a:t>
            </a:r>
            <a:r>
              <a:rPr lang="en-US" dirty="0"/>
              <a:t>  </a:t>
            </a:r>
            <a:r>
              <a:rPr lang="en-US" dirty="0" err="1"/>
              <a:t>distribucije</a:t>
            </a:r>
            <a:r>
              <a:rPr lang="en-US" dirty="0"/>
              <a:t> baze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4A797-7C2D-F2AF-CC70-EF1EE12918D2}"/>
              </a:ext>
            </a:extLst>
          </p:cNvPr>
          <p:cNvSpPr txBox="1"/>
          <p:nvPr/>
        </p:nvSpPr>
        <p:spPr>
          <a:xfrm>
            <a:off x="986589" y="2502568"/>
            <a:ext cx="1032309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Decentr</a:t>
            </a:r>
            <a:r>
              <a:rPr lang="sr-Latn-RS" sz="2400" dirty="0"/>
              <a:t>a</a:t>
            </a:r>
            <a:r>
              <a:rPr lang="en-US" sz="2400" dirty="0" err="1"/>
              <a:t>lizacija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Transparentnost</a:t>
            </a:r>
            <a:r>
              <a:rPr lang="en-US" sz="2400" dirty="0"/>
              <a:t> za </a:t>
            </a:r>
            <a:r>
              <a:rPr lang="en-US" sz="2400" dirty="0" err="1"/>
              <a:t>korisnike</a:t>
            </a:r>
            <a:r>
              <a:rPr lang="en-US" sz="2400" dirty="0"/>
              <a:t> -</a:t>
            </a:r>
            <a:r>
              <a:rPr lang="en-US" sz="2400" dirty="0" err="1"/>
              <a:t>Aplikacija</a:t>
            </a:r>
            <a:r>
              <a:rPr lang="en-US" sz="2400" dirty="0"/>
              <a:t> vidi bazu </a:t>
            </a:r>
            <a:r>
              <a:rPr lang="en-US" sz="2400" dirty="0" err="1"/>
              <a:t>kao</a:t>
            </a:r>
            <a:r>
              <a:rPr lang="en-US" sz="2400" dirty="0"/>
              <a:t> jedan </a:t>
            </a:r>
            <a:r>
              <a:rPr lang="en-US" sz="2400" dirty="0" err="1"/>
              <a:t>sistem</a:t>
            </a:r>
            <a:r>
              <a:rPr lang="en-US" sz="2400" dirty="0"/>
              <a:t>, dok MongoDB "ispod </a:t>
            </a:r>
            <a:r>
              <a:rPr lang="en-US" sz="2400" dirty="0" err="1"/>
              <a:t>haube</a:t>
            </a:r>
            <a:r>
              <a:rPr lang="en-US" sz="2400" dirty="0"/>
              <a:t>" </a:t>
            </a:r>
            <a:r>
              <a:rPr lang="en-US" sz="2400" dirty="0" err="1"/>
              <a:t>upravlja</a:t>
            </a:r>
            <a:r>
              <a:rPr lang="en-US" sz="2400" dirty="0"/>
              <a:t> </a:t>
            </a:r>
            <a:r>
              <a:rPr lang="en-US" sz="2400" dirty="0" err="1"/>
              <a:t>lokacijom</a:t>
            </a:r>
            <a:r>
              <a:rPr lang="en-US" sz="2400" dirty="0"/>
              <a:t> podataka.</a:t>
            </a:r>
          </a:p>
          <a:p>
            <a:r>
              <a:rPr lang="en-US" sz="2400" b="1" dirty="0"/>
              <a:t>Dva </a:t>
            </a:r>
            <a:r>
              <a:rPr lang="en-US" sz="2400" b="1" dirty="0" err="1"/>
              <a:t>ključna</a:t>
            </a:r>
            <a:r>
              <a:rPr lang="en-US" sz="2400" b="1" dirty="0"/>
              <a:t> </a:t>
            </a:r>
            <a:r>
              <a:rPr lang="en-US" sz="2400" b="1" dirty="0" err="1"/>
              <a:t>mehanizma</a:t>
            </a:r>
            <a:r>
              <a:rPr lang="en-US" sz="2400" b="1" dirty="0"/>
              <a:t>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Replica Set:</a:t>
            </a:r>
            <a:r>
              <a:rPr lang="en-US" sz="2400" dirty="0"/>
              <a:t> </a:t>
            </a:r>
            <a:r>
              <a:rPr lang="en-US" sz="2400" dirty="0" err="1"/>
              <a:t>Kopiranje</a:t>
            </a:r>
            <a:r>
              <a:rPr lang="en-US" sz="2400" dirty="0"/>
              <a:t> </a:t>
            </a:r>
            <a:r>
              <a:rPr lang="en-US" sz="2400" dirty="0" err="1"/>
              <a:t>istih</a:t>
            </a:r>
            <a:r>
              <a:rPr lang="en-US" sz="2400" dirty="0"/>
              <a:t> podataka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servera</a:t>
            </a:r>
            <a:r>
              <a:rPr lang="en-US" sz="2400" dirty="0"/>
              <a:t> (</a:t>
            </a:r>
            <a:r>
              <a:rPr lang="en-US" sz="2400" dirty="0" err="1"/>
              <a:t>Fokus</a:t>
            </a:r>
            <a:r>
              <a:rPr lang="en-US" sz="2400" dirty="0"/>
              <a:t>: </a:t>
            </a:r>
            <a:r>
              <a:rPr lang="en-US" sz="2400" b="1" dirty="0" err="1"/>
              <a:t>Sigurnost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 </a:t>
            </a:r>
            <a:r>
              <a:rPr lang="en-US" sz="2400" b="1" dirty="0" err="1"/>
              <a:t>dostupnost</a:t>
            </a:r>
            <a:r>
              <a:rPr lang="en-US" sz="2400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Sharded Cluster:</a:t>
            </a:r>
            <a:r>
              <a:rPr lang="en-US" sz="2400" dirty="0"/>
              <a:t> </a:t>
            </a:r>
            <a:r>
              <a:rPr lang="en-US" sz="2400" dirty="0" err="1"/>
              <a:t>Deljenje</a:t>
            </a:r>
            <a:r>
              <a:rPr lang="en-US" sz="2400" dirty="0"/>
              <a:t> </a:t>
            </a:r>
            <a:r>
              <a:rPr lang="en-US" sz="2400" dirty="0" err="1"/>
              <a:t>različitih</a:t>
            </a:r>
            <a:r>
              <a:rPr lang="en-US" sz="2400" dirty="0"/>
              <a:t> podataka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servera</a:t>
            </a:r>
            <a:r>
              <a:rPr lang="en-US" sz="2400" dirty="0"/>
              <a:t> (</a:t>
            </a:r>
            <a:r>
              <a:rPr lang="en-US" sz="2400" dirty="0" err="1"/>
              <a:t>Fokus</a:t>
            </a:r>
            <a:r>
              <a:rPr lang="en-US" sz="2400" dirty="0"/>
              <a:t>: </a:t>
            </a:r>
            <a:r>
              <a:rPr lang="en-US" sz="2400" b="1" dirty="0" err="1"/>
              <a:t>Performanse</a:t>
            </a:r>
            <a:r>
              <a:rPr lang="en-US" sz="2400" b="1" dirty="0"/>
              <a:t> </a:t>
            </a:r>
            <a:r>
              <a:rPr lang="en-US" sz="2400" b="1" dirty="0" err="1"/>
              <a:t>i</a:t>
            </a:r>
            <a:r>
              <a:rPr lang="en-US" sz="2400" b="1" dirty="0"/>
              <a:t> </a:t>
            </a:r>
            <a:r>
              <a:rPr lang="en-US" sz="2400" b="1" dirty="0" err="1"/>
              <a:t>kapacitet</a:t>
            </a:r>
            <a:r>
              <a:rPr lang="en-US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605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FB6D-A901-8F35-4ED3-01AE069A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Replikacija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A26BF-313E-AC7D-F5EE-A0420972D149}"/>
              </a:ext>
            </a:extLst>
          </p:cNvPr>
          <p:cNvSpPr txBox="1"/>
          <p:nvPr/>
        </p:nvSpPr>
        <p:spPr>
          <a:xfrm>
            <a:off x="1507958" y="2839453"/>
            <a:ext cx="9388640" cy="254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b="1" dirty="0"/>
              <a:t>Šta je replica set? </a:t>
            </a:r>
            <a:r>
              <a:rPr lang="pl-PL" dirty="0"/>
              <a:t>Grupa MongoDB instanci koje sadrže isti skup podataka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Primarni čvor (primary)- </a:t>
            </a:r>
            <a:r>
              <a:rPr lang="pl-PL" dirty="0"/>
              <a:t>Jedini čvor koji prima sve operacije upisa. Mogućnost upisa i čitanja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Sekndarni čvorovi (secondary)- </a:t>
            </a:r>
            <a:r>
              <a:rPr lang="pl-PL" dirty="0"/>
              <a:t>Služe za čitanje i kao potencijalni novi primary čvor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Arbiter (opciono) – </a:t>
            </a:r>
            <a:r>
              <a:rPr lang="pl-PL" dirty="0"/>
              <a:t>Ne čuva podatke, služi samo za glasanje prilikom izbora novog primarnog čvora.</a:t>
            </a:r>
            <a:endParaRPr lang="pl-PL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r-Latn-RS" b="1" dirty="0"/>
              <a:t>Automarski oporavak-</a:t>
            </a:r>
            <a:r>
              <a:rPr lang="sr-Latn-RS" dirty="0"/>
              <a:t> Ako primary padne, preostali čvovori biraju novog lidera.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8116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6.png">
            <a:extLst>
              <a:ext uri="{FF2B5EF4-FFF2-40B4-BE49-F238E27FC236}">
                <a16:creationId xmlns:a16="http://schemas.microsoft.com/office/drawing/2014/main" id="{480ABE46-7341-2B83-2560-56133B597D8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679031" y="737939"/>
            <a:ext cx="6015790" cy="4788566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E707BD-9A70-99F4-8B60-9BE84A5606D7}"/>
              </a:ext>
            </a:extLst>
          </p:cNvPr>
          <p:cNvSpPr txBox="1"/>
          <p:nvPr/>
        </p:nvSpPr>
        <p:spPr>
          <a:xfrm>
            <a:off x="3320716" y="5686926"/>
            <a:ext cx="425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/>
              <a:t>Replikacija kod MongoDB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0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5.png">
            <a:extLst>
              <a:ext uri="{FF2B5EF4-FFF2-40B4-BE49-F238E27FC236}">
                <a16:creationId xmlns:a16="http://schemas.microsoft.com/office/drawing/2014/main" id="{D15E153E-BC6B-26E6-6BFB-FDDB17130A9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269957" y="1002632"/>
            <a:ext cx="6946232" cy="4403556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01C625-BB4F-03EE-F0CA-4EAA7FB180AE}"/>
              </a:ext>
            </a:extLst>
          </p:cNvPr>
          <p:cNvSpPr txBox="1"/>
          <p:nvPr/>
        </p:nvSpPr>
        <p:spPr>
          <a:xfrm>
            <a:off x="4316949" y="5670702"/>
            <a:ext cx="246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/>
              <a:t>Heartbeat poruke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10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0DD2-20B4-D350-680B-55DD6C92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33480"/>
            <a:ext cx="9601196" cy="1303867"/>
          </a:xfrm>
        </p:spPr>
        <p:txBody>
          <a:bodyPr/>
          <a:lstStyle/>
          <a:p>
            <a:r>
              <a:rPr lang="sr-Latn-RS" dirty="0"/>
              <a:t>Sharding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AEAFB-AB70-C0E2-5103-4EE6DF17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Sharding je proces </a:t>
            </a:r>
            <a:r>
              <a:rPr lang="sr-Latn-RS" b="1" dirty="0"/>
              <a:t>horizontalne </a:t>
            </a:r>
            <a:r>
              <a:rPr lang="sr-Latn-RS" dirty="0"/>
              <a:t> podele podataka  na više servera (shardova).</a:t>
            </a:r>
          </a:p>
          <a:p>
            <a:r>
              <a:rPr lang="sr-Latn-RS" dirty="0"/>
              <a:t>Svaki shard čuva samo </a:t>
            </a:r>
            <a:r>
              <a:rPr lang="sr-Latn-RS" b="1" dirty="0"/>
              <a:t>deo celokupne kolekcije </a:t>
            </a:r>
            <a:r>
              <a:rPr lang="sr-Latn-RS" dirty="0"/>
              <a:t>(nijedan shard ne sadrži celokupnu kolekciju)</a:t>
            </a:r>
          </a:p>
          <a:p>
            <a:r>
              <a:rPr lang="sr-Latn-RS" dirty="0"/>
              <a:t>Shardingom se postiže mogućnost obrade ogromnih data setova</a:t>
            </a:r>
          </a:p>
          <a:p>
            <a:r>
              <a:rPr lang="sr-Latn-RS" dirty="0"/>
              <a:t>U MongoDB shardovi su takodje implementirani kao </a:t>
            </a:r>
            <a:r>
              <a:rPr lang="sr-Latn-RS" b="1" dirty="0"/>
              <a:t>replica setovi</a:t>
            </a:r>
            <a:r>
              <a:rPr lang="sr-Latn-R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524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9C8795-5940-5BEF-CEA9-E61FBD887F9B}"/>
              </a:ext>
            </a:extLst>
          </p:cNvPr>
          <p:cNvSpPr txBox="1"/>
          <p:nvPr/>
        </p:nvSpPr>
        <p:spPr>
          <a:xfrm>
            <a:off x="834189" y="874295"/>
            <a:ext cx="104434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/>
              <a:t>Kod shardinga bitno je napomenuti  kako MongoDB deli podatke, dva ključna elementa: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 b="1" dirty="0"/>
              <a:t>Shard key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sz="2400" b="1" dirty="0"/>
              <a:t>Chunkovi</a:t>
            </a:r>
          </a:p>
          <a:p>
            <a:pPr marL="342900" indent="-342900">
              <a:buFont typeface="+mj-lt"/>
              <a:buAutoNum type="arabicPeriod"/>
            </a:pPr>
            <a:endParaRPr lang="sr-Latn-R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400" b="1" dirty="0"/>
              <a:t>Shard key </a:t>
            </a:r>
            <a:r>
              <a:rPr lang="sr-Latn-RS" sz="2400" dirty="0"/>
              <a:t>je polje ili kombinacija polja koje određuje na kom polju će se nalaziti odredjeni dokument.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400" dirty="0"/>
              <a:t>Veoma je bitno izabrati pravilan shard key jer on obezbeđuje ravnomernu distribuciju podataka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400" b="1" dirty="0"/>
              <a:t>Chunk</a:t>
            </a:r>
            <a:r>
              <a:rPr lang="sr-Latn-RS" sz="2400" dirty="0"/>
              <a:t> je logicki opseg (raspon) podataka unutar jednog sharda.</a:t>
            </a:r>
          </a:p>
        </p:txBody>
      </p:sp>
    </p:spTree>
    <p:extLst>
      <p:ext uri="{BB962C8B-B14F-4D97-AF65-F5344CB8AC3E}">
        <p14:creationId xmlns:p14="http://schemas.microsoft.com/office/powerpoint/2010/main" val="217008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9C68-B094-102A-5C80-20B18227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Praktični primeri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63FF65-13EA-5A6E-8B3D-B6F894BF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Pokretanje 3 različitih instanci na 3 različita porta, 27017, 27018, 27019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EB8E20-8F40-F7A5-A6F3-B357A3CB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289" y="3276602"/>
            <a:ext cx="9986582" cy="247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5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EB9671-EF99-BB32-0C56-D1389218C753}"/>
              </a:ext>
            </a:extLst>
          </p:cNvPr>
          <p:cNvSpPr txBox="1"/>
          <p:nvPr/>
        </p:nvSpPr>
        <p:spPr>
          <a:xfrm>
            <a:off x="802105" y="802105"/>
            <a:ext cx="105316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/>
              <a:t>Nakon potretanja instanci neophodna je inicijalizacija replica set-a.</a:t>
            </a:r>
          </a:p>
          <a:p>
            <a:r>
              <a:rPr lang="sr-Latn-RS" sz="2400" dirty="0"/>
              <a:t>Ovaj postupak se obavlja izvršavanjem sledeće komande:</a:t>
            </a:r>
          </a:p>
          <a:p>
            <a:endParaRPr lang="sr-Latn-R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64851D-A38C-34F7-561B-9F433D97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40" y="1745215"/>
            <a:ext cx="5839328" cy="3194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0A5425-EA1D-3657-51FA-39D933D27601}"/>
              </a:ext>
            </a:extLst>
          </p:cNvPr>
          <p:cNvSpPr txBox="1"/>
          <p:nvPr/>
        </p:nvSpPr>
        <p:spPr>
          <a:xfrm>
            <a:off x="930441" y="5112785"/>
            <a:ext cx="715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/>
              <a:t>Id definiše jedinistveni identifikator replica seta</a:t>
            </a:r>
          </a:p>
          <a:p>
            <a:r>
              <a:rPr lang="sr-Latn-RS" sz="2400" dirty="0"/>
              <a:t>U members polju se navode svi članovi koji učestvuju u replica setu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755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494F0-EEA6-1E84-4A42-AD9473443755}"/>
              </a:ext>
            </a:extLst>
          </p:cNvPr>
          <p:cNvSpPr txBox="1"/>
          <p:nvPr/>
        </p:nvSpPr>
        <p:spPr>
          <a:xfrm>
            <a:off x="938463" y="882316"/>
            <a:ext cx="10274969" cy="144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Kako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bismo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proverili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da li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sve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replike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uspešno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pokrenute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pravilno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povezane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unutar replica seta,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potrebno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je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izvršiti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sledeću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komandu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rs.status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()</a:t>
            </a:r>
            <a:endParaRPr lang="sr-Latn-RS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FF99F-893B-C7BA-1AD7-B26EFDD38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8" y="1893861"/>
            <a:ext cx="4167197" cy="40751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710C32-D509-9DFD-7CA4-5B8C8A43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61" y="1893861"/>
            <a:ext cx="6018176" cy="407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9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FAE3-4721-9417-2B89-5C81AFF0ED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8253" y="652714"/>
            <a:ext cx="10579768" cy="967540"/>
          </a:xfrm>
        </p:spPr>
        <p:txBody>
          <a:bodyPr/>
          <a:lstStyle/>
          <a:p>
            <a:r>
              <a:rPr lang="sr-Latn-RS" dirty="0"/>
              <a:t>Demonstracija replikacije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B6ADF-B97A-9A06-029C-C101B2660788}"/>
              </a:ext>
            </a:extLst>
          </p:cNvPr>
          <p:cNvSpPr txBox="1"/>
          <p:nvPr/>
        </p:nvSpPr>
        <p:spPr>
          <a:xfrm>
            <a:off x="1034716" y="1770696"/>
            <a:ext cx="104033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400" dirty="0"/>
              <a:t>Potrebno je kreirati bazu na primarnom nodu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400" dirty="0"/>
              <a:t>Insertovanje objekta u primarnoj instanci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endParaRPr lang="sr-Latn-R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96D1B-4C71-F613-3473-F2ED5CCAA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289" y="2280483"/>
            <a:ext cx="4105275" cy="628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B3F829-2163-54A4-D869-0DEBCC979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358" y="3844035"/>
            <a:ext cx="5943600" cy="115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93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3BC38-6F55-8FC0-DD08-735F62DA937C}"/>
              </a:ext>
            </a:extLst>
          </p:cNvPr>
          <p:cNvSpPr txBox="1"/>
          <p:nvPr/>
        </p:nvSpPr>
        <p:spPr>
          <a:xfrm>
            <a:off x="810126" y="874295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400" dirty="0"/>
              <a:t>Čitanje sa primarne instance</a:t>
            </a:r>
          </a:p>
          <a:p>
            <a:endParaRPr lang="sr-Latn-RS" sz="2400" dirty="0"/>
          </a:p>
          <a:p>
            <a:endParaRPr lang="sr-Latn-RS" sz="2400" dirty="0"/>
          </a:p>
          <a:p>
            <a:endParaRPr lang="sr-Latn-R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r-Latn-RS" sz="2400" dirty="0"/>
              <a:t>Ukoliko je replikacija uspešno izvršena, podaci su propagirani na secondary instancama</a:t>
            </a:r>
          </a:p>
          <a:p>
            <a:endParaRPr lang="sr-Latn-RS" sz="24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68148C-4B3F-A023-034C-A343ECB6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58" y="780079"/>
            <a:ext cx="5943600" cy="14818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29A794-B77C-6EDF-C44A-9EF9FA06A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69" y="3221705"/>
            <a:ext cx="5572125" cy="2371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02542C-EE99-7AB1-EC7E-6F1747451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37" y="3221705"/>
            <a:ext cx="4924425" cy="2371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2CFFA-25DD-E50B-86CE-5AC7ACA36262}"/>
              </a:ext>
            </a:extLst>
          </p:cNvPr>
          <p:cNvSpPr txBox="1"/>
          <p:nvPr/>
        </p:nvSpPr>
        <p:spPr>
          <a:xfrm>
            <a:off x="2571471" y="5799039"/>
            <a:ext cx="1174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Port 27018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631A2-9D3C-4AA4-D068-7347D1939686}"/>
              </a:ext>
            </a:extLst>
          </p:cNvPr>
          <p:cNvSpPr txBox="1"/>
          <p:nvPr/>
        </p:nvSpPr>
        <p:spPr>
          <a:xfrm>
            <a:off x="8375429" y="5799039"/>
            <a:ext cx="1174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Port 27019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8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66E9FF-FF24-7759-9743-384B3489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72" y="697833"/>
            <a:ext cx="10148360" cy="54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03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C8AF-57B0-1341-9454-AC2D3375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7" cy="806563"/>
          </a:xfrm>
        </p:spPr>
        <p:txBody>
          <a:bodyPr/>
          <a:lstStyle/>
          <a:p>
            <a:r>
              <a:rPr lang="sr-Latn-RS" dirty="0"/>
              <a:t>Otpornost na greške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2667-D8A1-75C2-1B65-5FDB1548E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MongoDB ima sposobnost otpora na greške</a:t>
            </a:r>
          </a:p>
          <a:p>
            <a:r>
              <a:rPr lang="sr-Latn-RS" dirty="0"/>
              <a:t>Zbog toga Mongo je sistem sa velikom dostupnošću i otpornošću</a:t>
            </a:r>
          </a:p>
          <a:p>
            <a:r>
              <a:rPr lang="sr-Latn-RS" dirty="0"/>
              <a:t>Ukoliko se ugasi primary instanca, pokreću se lokalni izboru u kome jedna od secondary instanci postaje primary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32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9C216D-44DC-ABFB-2BB4-D90F2956CA18}"/>
              </a:ext>
            </a:extLst>
          </p:cNvPr>
          <p:cNvSpPr txBox="1"/>
          <p:nvPr/>
        </p:nvSpPr>
        <p:spPr>
          <a:xfrm>
            <a:off x="770021" y="826168"/>
            <a:ext cx="105877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000" dirty="0"/>
              <a:t>Gašenje primary instance: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libri" panose="020F0502020204030204" pitchFamily="34" charset="0"/>
              </a:rPr>
              <a:t>Nakon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gašenja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primarne</a:t>
            </a:r>
            <a:r>
              <a:rPr lang="en-US" sz="2000" dirty="0">
                <a:effectLst/>
                <a:ea typeface="Calibri" panose="020F0502020204030204" pitchFamily="34" charset="0"/>
              </a:rPr>
              <a:t> instance, MongoDB replica set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automatski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pokreće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proces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izbora</a:t>
            </a:r>
            <a:r>
              <a:rPr lang="en-US" sz="2000" dirty="0">
                <a:effectLst/>
                <a:ea typeface="Calibri" panose="020F0502020204030204" pitchFamily="34" charset="0"/>
              </a:rPr>
              <a:t> (</a:t>
            </a:r>
            <a:r>
              <a:rPr lang="en-US" sz="2000" i="1" dirty="0">
                <a:effectLst/>
                <a:ea typeface="Calibri" panose="020F0502020204030204" pitchFamily="34" charset="0"/>
              </a:rPr>
              <a:t>election process</a:t>
            </a:r>
            <a:r>
              <a:rPr lang="en-US" sz="2000" dirty="0">
                <a:effectLst/>
                <a:ea typeface="Calibri" panose="020F0502020204030204" pitchFamily="34" charset="0"/>
              </a:rPr>
              <a:t>) kako bi se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obezbedio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nastavak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normalnog</a:t>
            </a:r>
            <a:r>
              <a:rPr lang="en-US" sz="2000" dirty="0">
                <a:effectLst/>
                <a:ea typeface="Calibri" panose="020F0502020204030204" pitchFamily="34" charset="0"/>
              </a:rPr>
              <a:t> rad</a:t>
            </a:r>
            <a:r>
              <a:rPr lang="sr-Latn-R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sistem</a:t>
            </a:r>
            <a:r>
              <a:rPr lang="sr-Latn-RS" sz="2000" dirty="0">
                <a:effectLst/>
                <a:ea typeface="Calibri" panose="020F0502020204030204" pitchFamily="34" charset="0"/>
              </a:rPr>
              <a:t>a</a:t>
            </a:r>
            <a:endParaRPr lang="sr-Latn-RS" sz="2000" dirty="0"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libri" panose="020F0502020204030204" pitchFamily="34" charset="0"/>
              </a:rPr>
              <a:t>. Ovaj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proces</a:t>
            </a:r>
            <a:r>
              <a:rPr lang="en-US" sz="2000" dirty="0">
                <a:effectLst/>
                <a:ea typeface="Calibri" panose="020F0502020204030204" pitchFamily="34" charset="0"/>
              </a:rPr>
              <a:t> se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odvija</a:t>
            </a:r>
            <a:r>
              <a:rPr lang="en-US" sz="2000" dirty="0">
                <a:effectLst/>
                <a:ea typeface="Calibri" panose="020F0502020204030204" pitchFamily="34" charset="0"/>
              </a:rPr>
              <a:t> bez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potrebe</a:t>
            </a:r>
            <a:r>
              <a:rPr lang="en-US" sz="2000" dirty="0">
                <a:effectLst/>
                <a:ea typeface="Calibri" panose="020F0502020204030204" pitchFamily="34" charset="0"/>
              </a:rPr>
              <a:t> za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ručnom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intervencijom</a:t>
            </a:r>
            <a:r>
              <a:rPr lang="en-US" sz="2000" dirty="0">
                <a:effectLst/>
                <a:ea typeface="Calibri" panose="020F0502020204030204" pitchFamily="34" charset="0"/>
              </a:rPr>
              <a:t> korisnika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i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obično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traje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svega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nekoliko</a:t>
            </a:r>
            <a:r>
              <a:rPr lang="en-US" sz="2000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ea typeface="Calibri" panose="020F0502020204030204" pitchFamily="34" charset="0"/>
              </a:rPr>
              <a:t>sekundi</a:t>
            </a:r>
            <a:r>
              <a:rPr lang="en-US" sz="2000" dirty="0">
                <a:effectLst/>
                <a:ea typeface="Calibri" panose="020F0502020204030204" pitchFamily="34" charset="0"/>
              </a:rPr>
              <a:t>.</a:t>
            </a:r>
            <a:endParaRPr lang="sr-Latn-RS" sz="2000" dirty="0">
              <a:effectLst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CCBF2-D0F2-349D-E7E1-67EF7BFA4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80" y="750604"/>
            <a:ext cx="5638800" cy="962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32234-C1CC-A2BF-5EFC-147373C67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30" y="3328738"/>
            <a:ext cx="9284750" cy="270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00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3483DB-B040-1CE6-7A45-726EBF51F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52" y="775356"/>
            <a:ext cx="3801980" cy="44540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F60A70-CD68-4369-F781-2373372E4A32}"/>
              </a:ext>
            </a:extLst>
          </p:cNvPr>
          <p:cNvSpPr txBox="1"/>
          <p:nvPr/>
        </p:nvSpPr>
        <p:spPr>
          <a:xfrm>
            <a:off x="1219202" y="5374758"/>
            <a:ext cx="34169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Instasnca na portu 27019 postaje novi primary node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98D9A-B7E5-3071-083A-8FB58831AEDF}"/>
              </a:ext>
            </a:extLst>
          </p:cNvPr>
          <p:cNvSpPr txBox="1"/>
          <p:nvPr/>
        </p:nvSpPr>
        <p:spPr>
          <a:xfrm>
            <a:off x="5518484" y="843677"/>
            <a:ext cx="490086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200" dirty="0"/>
              <a:t>Nakon izbora nove primary instance, potrebno je dokazati da sistem nesmetano nastavlja sa radom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200" dirty="0"/>
              <a:t>To ćemo dokazati tako što ćemo ponoviti postupak kao na prethodnim slajdovima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2200" dirty="0"/>
              <a:t>Izvršićemo upis na primary nodu a zatim proveriti da li je secondary instanca dobila kopiju podataka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R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C2731-7A74-C263-DBB4-AFAE96EA1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337" y="3961397"/>
            <a:ext cx="5943600" cy="1428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33784A-B17E-3454-FC06-1D3A8E885A47}"/>
              </a:ext>
            </a:extLst>
          </p:cNvPr>
          <p:cNvSpPr txBox="1"/>
          <p:nvPr/>
        </p:nvSpPr>
        <p:spPr>
          <a:xfrm>
            <a:off x="5518483" y="5528646"/>
            <a:ext cx="5358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Insertovanje objekta na novoj primary instanci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3204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1BA3BD-80EA-674F-78AB-7C2E66AA2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9" y="810127"/>
            <a:ext cx="9991402" cy="27592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9D03E1-18F9-818D-4809-BD2927F8EE4C}"/>
              </a:ext>
            </a:extLst>
          </p:cNvPr>
          <p:cNvSpPr txBox="1"/>
          <p:nvPr/>
        </p:nvSpPr>
        <p:spPr>
          <a:xfrm>
            <a:off x="1949116" y="3729790"/>
            <a:ext cx="814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Upoređivanje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rezultata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instanci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portu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27018 I </a:t>
            </a:r>
            <a:r>
              <a:rPr lang="en-U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portu</a:t>
            </a:r>
            <a:r>
              <a:rPr lang="en-U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27019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0221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B7F5-F56B-C8E5-F257-A0048905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67EDC-7A23-7FF2-0DA7-D5230B293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Visoka dostupnost: MongoDB replica set osigurava neprekidan rad sistema čak i prilikom otkazivanja čvorova</a:t>
            </a:r>
          </a:p>
          <a:p>
            <a:r>
              <a:rPr lang="sr-Latn-RS" dirty="0"/>
              <a:t>Automatski oporavak: Mehanizam izbora eliminiše potrenu za manuelnom intervencijom  administratora</a:t>
            </a:r>
          </a:p>
          <a:p>
            <a:r>
              <a:rPr lang="en-US" dirty="0" err="1"/>
              <a:t>Integritet</a:t>
            </a:r>
            <a:r>
              <a:rPr lang="en-US" dirty="0"/>
              <a:t> podataka</a:t>
            </a:r>
            <a:r>
              <a:rPr lang="sr-Latn-RS" dirty="0"/>
              <a:t>: Sistem sprečava nekonzistentnost (u slučaju gubljenja viče čvorova, zabranjuje se upis radi sigurnosti)</a:t>
            </a:r>
          </a:p>
          <a:p>
            <a:r>
              <a:rPr lang="sr-Latn-RS" dirty="0"/>
              <a:t>Skalabilnost i pouzdanost: Arhitektura je potpuno prilagođena zahtevima modernih, distribuiranih aplikacija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19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4506</TotalTime>
  <Words>769</Words>
  <Application>Microsoft Office PowerPoint</Application>
  <PresentationFormat>Widescreen</PresentationFormat>
  <Paragraphs>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Garamond</vt:lpstr>
      <vt:lpstr>Organic</vt:lpstr>
      <vt:lpstr>Distribucija baze kod MongoDB</vt:lpstr>
      <vt:lpstr>Sadržaj</vt:lpstr>
      <vt:lpstr>Uvod i cilj projekta</vt:lpstr>
      <vt:lpstr>Horizontalno I vertikalno skaliranje</vt:lpstr>
      <vt:lpstr>Osnove  distribucije baze </vt:lpstr>
      <vt:lpstr>Replikacija</vt:lpstr>
      <vt:lpstr>PowerPoint Presentation</vt:lpstr>
      <vt:lpstr>PowerPoint Presentation</vt:lpstr>
      <vt:lpstr>Sharding</vt:lpstr>
      <vt:lpstr>PowerPoint Presentation</vt:lpstr>
      <vt:lpstr>Praktični primeri</vt:lpstr>
      <vt:lpstr>PowerPoint Presentation</vt:lpstr>
      <vt:lpstr>PowerPoint Presentation</vt:lpstr>
      <vt:lpstr>Demonstracija replikacije</vt:lpstr>
      <vt:lpstr>PowerPoint Presentation</vt:lpstr>
      <vt:lpstr>PowerPoint Presentation</vt:lpstr>
      <vt:lpstr>Otpornost na greške</vt:lpstr>
      <vt:lpstr>PowerPoint Presentation</vt:lpstr>
      <vt:lpstr>PowerPoint Presentation</vt:lpstr>
      <vt:lpstr>PowerPoint Presentation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Petar Mancic</dc:creator>
  <cp:lastModifiedBy>Petar Mancic</cp:lastModifiedBy>
  <cp:revision>21</cp:revision>
  <dcterms:created xsi:type="dcterms:W3CDTF">2026-01-14T20:25:59Z</dcterms:created>
  <dcterms:modified xsi:type="dcterms:W3CDTF">2026-01-19T09:45:19Z</dcterms:modified>
</cp:coreProperties>
</file>